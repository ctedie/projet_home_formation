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Gestion de Recettes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Application Web Fullstack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2588" y="5029200"/>
            <a:ext cx="553882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Cédric TEDIE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TP DWWM | Centre </a:t>
            </a:r>
            <a:r>
              <a:rPr dirty="0" err="1"/>
              <a:t>Européen</a:t>
            </a:r>
            <a:r>
              <a:rPr dirty="0"/>
              <a:t> de Formation | 202</a:t>
            </a:r>
            <a:r>
              <a:rPr lang="fr-FR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Contexte et Objectif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Formation TP DWWM (Titre Professionnel)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Projet personnel fullstack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Démonstration des 6 compétences obligatoires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Ambition de 15 ans concrétisée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Problématique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Problème : Gérer ses recettes reste fastidieux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Solution : Application web moderne et sécurisée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Fonctionnalités clés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Créer et gérer ses recettes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Rechercher et filtrer par catégorie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Marquer ses favoris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Panel d'administration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Architecture Générale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Pattern : Route → Controller → Service → Model (RCSM)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Couches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Frontend : React 19 (Interface dynamique)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API : Express 5 + JWT (Authentification)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Backend : Sequelize 6 (ORM sécurisé)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Database : MySQL 8 (Données relationnelles)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Stack Frontend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Technologies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React 19 : Interface dynamique et réactive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Bootstrap 5 : Design responsive (desktop/mobile)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SCSS : Stylisation avancée avec variables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Axios : Appels API sécurisés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Fonctionnalités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Recherche en temps réel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Filtrage par catégorie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Système de favoris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Gestion d'état avec Context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Stack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Technologies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Node.js &amp; Express 5 : API REST performante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Sequelize 6 : ORM pour MySQL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JWT + bcryptjs : Authentification sécurisée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MySQL 8 : Base de données relationnelle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Architecture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Pattern RCSM (Routes, Controllers, Services,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Authentification JWT 24h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• Middlewares isAuthenticated &amp; isAdmin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Architecture Base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3 Tables </a:t>
            </a:r>
            <a:r>
              <a:rPr dirty="0" err="1"/>
              <a:t>relationnelles</a:t>
            </a:r>
            <a:r>
              <a:rPr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UTILISATEURS : id, nom, </a:t>
            </a:r>
            <a:r>
              <a:rPr dirty="0" err="1"/>
              <a:t>motDePasse</a:t>
            </a:r>
            <a:r>
              <a:rPr dirty="0"/>
              <a:t>, role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RECETTES : id, nom, ingredients, </a:t>
            </a:r>
            <a:r>
              <a:rPr dirty="0" err="1"/>
              <a:t>categorie</a:t>
            </a:r>
            <a:r>
              <a:rPr dirty="0"/>
              <a:t>, </a:t>
            </a:r>
            <a:r>
              <a:rPr dirty="0" err="1"/>
              <a:t>UtilisateurId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FAVORIS : id, </a:t>
            </a:r>
            <a:r>
              <a:rPr dirty="0" err="1"/>
              <a:t>UtilisateurId</a:t>
            </a:r>
            <a:r>
              <a:rPr dirty="0"/>
              <a:t>, </a:t>
            </a:r>
            <a:r>
              <a:rPr dirty="0" err="1"/>
              <a:t>RecetteId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Relations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1→N : Un </a:t>
            </a:r>
            <a:r>
              <a:rPr dirty="0" err="1"/>
              <a:t>utilisateur</a:t>
            </a:r>
            <a:r>
              <a:rPr dirty="0"/>
              <a:t> </a:t>
            </a:r>
            <a:r>
              <a:rPr dirty="0" err="1"/>
              <a:t>crée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recettes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N↔M : Un </a:t>
            </a:r>
            <a:r>
              <a:rPr dirty="0" err="1"/>
              <a:t>utilisateur</a:t>
            </a:r>
            <a:r>
              <a:rPr dirty="0"/>
              <a:t> a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favoris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Page Accueil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ccue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74" y="1765755"/>
            <a:ext cx="9000000" cy="41042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Page Recettes - Listing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ge_Recet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745732"/>
            <a:ext cx="9000000" cy="4106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Page Recettes - Détail (Modale)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odal_affichage_rec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847088"/>
            <a:ext cx="9000000" cy="4070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Page Favoris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ge_favo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783080"/>
            <a:ext cx="9000000" cy="4093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Authentification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ge_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764792"/>
            <a:ext cx="9000000" cy="41068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Panel Admin - Gestion Recettes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age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" y="1810513"/>
            <a:ext cx="9000000" cy="4102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Panel Admin - Gestion Utilisateurs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6A93E6D-4D0B-1837-BDF1-2147EA43C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4630"/>
            <a:ext cx="9144000" cy="43843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6172200" y="1691640"/>
            <a:ext cx="2514600" cy="420624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691640"/>
            <a:ext cx="2514600" cy="420624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514600" cy="420624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rPr sz="4000" dirty="0"/>
              <a:t>Sécurité - </a:t>
            </a:r>
            <a:r>
              <a:rPr sz="4000" dirty="0" err="1"/>
              <a:t>Authentification</a:t>
            </a:r>
            <a:r>
              <a:rPr sz="4000" dirty="0"/>
              <a:t> &amp;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4460" y="18288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2514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052CC"/>
                </a:solidFill>
              </a:rPr>
              <a:t>Authentification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14884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JWT tokens 24h (Bearer token)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Validation côté client ET serveur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Stockage localStorage sécurisé</a:t>
            </a:r>
          </a:p>
        </p:txBody>
      </p:sp>
      <p:sp>
        <p:nvSpPr>
          <p:cNvPr id="9" name="Oval 8"/>
          <p:cNvSpPr/>
          <p:nvPr/>
        </p:nvSpPr>
        <p:spPr>
          <a:xfrm>
            <a:off x="4256532" y="1828800"/>
            <a:ext cx="640080" cy="640080"/>
          </a:xfrm>
          <a:prstGeom prst="ellipse">
            <a:avLst/>
          </a:prstGeom>
          <a:solidFill>
            <a:srgbClr val="1D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606040"/>
            <a:ext cx="2514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1DBF73"/>
                </a:solidFill>
              </a:rPr>
              <a:t>Mots de passe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3063240"/>
            <a:ext cx="214884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bcryptjs, salt 10 (jamais en clair)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Aucune récupération possible du mot de passe</a:t>
            </a:r>
          </a:p>
        </p:txBody>
      </p:sp>
      <p:sp>
        <p:nvSpPr>
          <p:cNvPr id="13" name="Oval 12"/>
          <p:cNvSpPr/>
          <p:nvPr/>
        </p:nvSpPr>
        <p:spPr>
          <a:xfrm>
            <a:off x="7109460" y="1828800"/>
            <a:ext cx="640080" cy="640080"/>
          </a:xfrm>
          <a:prstGeom prst="ellipse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06040"/>
            <a:ext cx="2514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E88A2E"/>
                </a:solidFill>
              </a:rPr>
              <a:t>Contrôle d'accès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063240"/>
            <a:ext cx="214884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Middleware isAuthenticated</a:t>
            </a:r>
          </a:p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Middleware isAdmin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754880" y="169164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931920" cy="32004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Sécurité - Base de Données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03120" y="18288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052CC"/>
                </a:solidFill>
              </a:rPr>
              <a:t>Protection SQL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347472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Sequelize ORM (requêtes paramétrées)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Aucun SQL brut en construction dynamique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1D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1DBF73"/>
                </a:solidFill>
              </a:rPr>
              <a:t>Intégrité des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063240"/>
            <a:ext cx="347472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Validations Sequelize (longueur, type, énumérés)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Contraintes CASCADE (suppression cohérente)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Contrainte UNIQUE sur (UtilisateurId, RecetteId)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8229600" cy="594360"/>
          </a:xfrm>
          <a:prstGeom prst="roundRect">
            <a:avLst>
              <a:gd name="adj" fmla="val 15000"/>
            </a:avLst>
          </a:prstGeom>
          <a:solidFill>
            <a:srgbClr val="1DB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Résultat : aucune injection possible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4754880" y="1691640"/>
            <a:ext cx="3931920" cy="420624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931920" cy="420624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Sécurité - Upload &amp; CORS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03120" y="1828800"/>
            <a:ext cx="640080" cy="640080"/>
          </a:xfrm>
          <a:prstGeom prst="ellipse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931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052CC"/>
                </a:solidFill>
              </a:rPr>
              <a:t>Upload fichiers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40"/>
            <a:ext cx="347472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Type validé (JPG, PNG, WEBP, GIF)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Taille limitée à 5 Mo maximum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Nommage sécurisé par timestamp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Stockage en dossier dédié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E88A2E"/>
                </a:solidFill>
              </a:rPr>
              <a:t>CORS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063240"/>
            <a:ext cx="3474720" cy="27432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Allowlist des ports configurée</a:t>
            </a:r>
          </a:p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Communication cross-port sécurisée</a:t>
            </a:r>
          </a:p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250">
                <a:solidFill>
                  <a:srgbClr val="000000"/>
                </a:solidFill>
              </a:rPr>
              <a:t>Requêtes non autorisées bloquées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4754880" y="416052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16052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260604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606040"/>
            <a:ext cx="3931920" cy="141732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rPr dirty="0"/>
              <a:t>Tests </a:t>
            </a:r>
            <a:r>
              <a:rPr dirty="0" err="1"/>
              <a:t>Fonctionnels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DBF73"/>
                </a:solidFill>
              </a:rPr>
              <a:t>20/20</a:t>
            </a:r>
          </a:p>
          <a:p>
            <a:pPr algn="ctr"/>
            <a:r>
              <a:rPr sz="1200">
                <a:solidFill>
                  <a:srgbClr val="404040"/>
                </a:solidFill>
              </a:rPr>
              <a:t>scénarios testés — 100% de réussite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15768"/>
            <a:ext cx="3566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52CC"/>
                </a:solidFill>
              </a:rPr>
              <a:t>Authentification  (4 cas)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56616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150">
                <a:solidFill>
                  <a:srgbClr val="000000"/>
                </a:solidFill>
              </a:rPr>
              <a:t>Login réussi, erreur, token valide, expiration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15768"/>
            <a:ext cx="3566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1DBF73"/>
                </a:solidFill>
              </a:rPr>
              <a:t>CRUD Recettes  (4 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108960"/>
            <a:ext cx="356616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150">
                <a:solidFill>
                  <a:srgbClr val="000000"/>
                </a:solidFill>
              </a:rPr>
              <a:t>Création, lecture, modification, suppression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566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E88A2E"/>
                </a:solidFill>
              </a:rPr>
              <a:t>Favoris  (4 cas)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56616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E88A2E"/>
              </a:buClr>
              <a:buFont typeface="Arial"/>
              <a:buChar char="•"/>
            </a:pPr>
            <a:r>
              <a:rPr sz="1150">
                <a:solidFill>
                  <a:srgbClr val="000000"/>
                </a:solidFill>
              </a:rPr>
              <a:t>Ajouter, retirer, affichage, recherche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270248"/>
            <a:ext cx="35661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400" b="1">
                <a:solidFill>
                  <a:srgbClr val="0052CC"/>
                </a:solidFill>
              </a:rPr>
              <a:t>Validation  (4 cas)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663440"/>
            <a:ext cx="3566160" cy="86868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150">
                <a:solidFill>
                  <a:srgbClr val="000000"/>
                </a:solidFill>
              </a:rPr>
              <a:t>Longueur, format, fichier, données invalides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Tests Sécurité (OWASP Top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3931920" cy="3017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1. SQL Injection — Sequelize ORM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2. XSS — React échappe par défaut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3. CSRF — JWT sans cookie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4. Broken Access Control — Middlewares strictes</a:t>
            </a:r>
          </a:p>
          <a:p>
            <a:pPr algn="l" marL="182880" indent="-182880">
              <a:spcAft>
                <a:spcPts val="600"/>
              </a:spcAft>
              <a:buClr>
                <a:srgbClr val="0052CC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5. Cryptographic Failures — bcryptjs +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91640"/>
            <a:ext cx="3931920" cy="30175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6. Insecure Deserialization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7. Security Misconfiguration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8. Insecure Components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9. Logging &amp; Monitoring</a:t>
            </a:r>
          </a:p>
          <a:p>
            <a:pPr algn="l" marL="182880" indent="-182880">
              <a:spcAft>
                <a:spcPts val="600"/>
              </a:spcAft>
              <a:buClr>
                <a:srgbClr val="1DBF73"/>
              </a:buClr>
              <a:buFont typeface="Arial"/>
              <a:buChar char="•"/>
            </a:pPr>
            <a:r>
              <a:rPr sz="1300">
                <a:solidFill>
                  <a:srgbClr val="000000"/>
                </a:solidFill>
              </a:rPr>
              <a:t>10. Server-Side Request Forgery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74920"/>
            <a:ext cx="8229600" cy="594360"/>
          </a:xfrm>
          <a:prstGeom prst="roundRect">
            <a:avLst>
              <a:gd name="adj" fmla="val 15000"/>
            </a:avLst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Résultat : 100% de couverture OWASP Top 10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Points Forts du Projet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Architecture </a:t>
            </a:r>
            <a:r>
              <a:rPr sz="1400" dirty="0" err="1"/>
              <a:t>solide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RCSM </a:t>
            </a:r>
            <a:r>
              <a:rPr sz="1400" dirty="0" err="1"/>
              <a:t>respectée</a:t>
            </a:r>
            <a:r>
              <a:rPr sz="1400" dirty="0"/>
              <a:t>, </a:t>
            </a:r>
            <a:r>
              <a:rPr sz="1400" dirty="0" err="1"/>
              <a:t>séparation</a:t>
            </a:r>
            <a:r>
              <a:rPr sz="1400" dirty="0"/>
              <a:t> des </a:t>
            </a:r>
            <a:r>
              <a:rPr sz="1400" dirty="0" err="1"/>
              <a:t>responsabilités</a:t>
            </a: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Sécurité </a:t>
            </a:r>
            <a:r>
              <a:rPr sz="1400" dirty="0" err="1"/>
              <a:t>approfondie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Multi-</a:t>
            </a:r>
            <a:r>
              <a:rPr sz="1400" dirty="0" err="1"/>
              <a:t>niveaux</a:t>
            </a:r>
            <a:r>
              <a:rPr sz="1400" dirty="0"/>
              <a:t> de protection (OWASP Top 10)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Code de </a:t>
            </a:r>
            <a:r>
              <a:rPr sz="1400" dirty="0" err="1"/>
              <a:t>qualité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Lisible</a:t>
            </a:r>
            <a:r>
              <a:rPr sz="1400" dirty="0"/>
              <a:t>, </a:t>
            </a:r>
            <a:r>
              <a:rPr sz="1400" dirty="0" err="1"/>
              <a:t>commenté</a:t>
            </a:r>
            <a:r>
              <a:rPr sz="1400" dirty="0"/>
              <a:t>, </a:t>
            </a:r>
            <a:r>
              <a:rPr sz="1400" dirty="0" err="1"/>
              <a:t>validé</a:t>
            </a: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 err="1"/>
              <a:t>Fonctionnalités</a:t>
            </a:r>
            <a:r>
              <a:rPr sz="1400" dirty="0"/>
              <a:t> </a:t>
            </a:r>
            <a:r>
              <a:rPr sz="1400" dirty="0" err="1"/>
              <a:t>complètes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CRUD, recherche, </a:t>
            </a:r>
            <a:r>
              <a:rPr sz="1400" dirty="0" err="1"/>
              <a:t>filtrage</a:t>
            </a:r>
            <a:r>
              <a:rPr sz="1400" dirty="0"/>
              <a:t>, </a:t>
            </a:r>
            <a:r>
              <a:rPr sz="1400" dirty="0" err="1"/>
              <a:t>favoris</a:t>
            </a:r>
            <a:r>
              <a:rPr sz="1400" dirty="0"/>
              <a:t>, admin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UX </a:t>
            </a:r>
            <a:r>
              <a:rPr sz="1400" dirty="0" err="1"/>
              <a:t>moderne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Responsive, accessible (WCAG AA), intuitive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97263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CC"/>
                </a:solidFill>
              </a:defRPr>
            </a:pPr>
            <a:r>
              <a:rPr sz="3200" dirty="0"/>
              <a:t>Couverture des 6 </a:t>
            </a:r>
            <a:r>
              <a:rPr sz="3200" dirty="0" err="1"/>
              <a:t>Compétences</a:t>
            </a:r>
            <a:r>
              <a:rPr sz="3200" dirty="0"/>
              <a:t> du TP DWWM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1. Maquetter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Figma +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2. Interfaces statiques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402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Bootstrap + SCSS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3. Partie dynamique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834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8346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React hooks +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4. BDD relationnelle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290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29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MySQL 3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5. Composants accès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023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Sequelize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6. Composants métier serveur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617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DBF73"/>
                </a:solidFill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617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JWT + Controllers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DBF73"/>
                </a:solidFill>
              </a:defRPr>
            </a:pPr>
            <a:r>
              <a:t>Tous les critères d'évaluation du référentiel sont couverts 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Améliorations Futures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Court </a:t>
            </a:r>
            <a:r>
              <a:rPr sz="1400" dirty="0" err="1"/>
              <a:t>terme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Rate limiting (protection brute force)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Refresh tokens (JWT plus long)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Tests </a:t>
            </a:r>
            <a:r>
              <a:rPr sz="1400" dirty="0" err="1"/>
              <a:t>unitaires</a:t>
            </a:r>
            <a:r>
              <a:rPr sz="1400" dirty="0"/>
              <a:t> (Jest)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Caching (Redis)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Moyen </a:t>
            </a:r>
            <a:r>
              <a:rPr sz="1400" dirty="0" err="1"/>
              <a:t>terme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Logs </a:t>
            </a:r>
            <a:r>
              <a:rPr sz="1400" dirty="0" err="1"/>
              <a:t>structurés</a:t>
            </a:r>
            <a:r>
              <a:rPr sz="1400" dirty="0"/>
              <a:t> (Winston/Pino)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Pagination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Notifications </a:t>
            </a:r>
            <a:r>
              <a:rPr sz="1400" dirty="0" err="1"/>
              <a:t>en</a:t>
            </a:r>
            <a:r>
              <a:rPr sz="1400" dirty="0"/>
              <a:t> temps </a:t>
            </a:r>
            <a:r>
              <a:rPr sz="1400" dirty="0" err="1"/>
              <a:t>réel</a:t>
            </a:r>
            <a:r>
              <a:rPr sz="1400" dirty="0"/>
              <a:t> (</a:t>
            </a:r>
            <a:r>
              <a:rPr sz="1400" dirty="0" err="1"/>
              <a:t>WebSockets</a:t>
            </a:r>
            <a:r>
              <a:rPr sz="1400" dirty="0"/>
              <a:t>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 err="1"/>
              <a:t>Démontre</a:t>
            </a:r>
            <a:r>
              <a:rPr sz="1400" dirty="0"/>
              <a:t> la </a:t>
            </a:r>
            <a:r>
              <a:rPr sz="1400" dirty="0" err="1"/>
              <a:t>réflexion</a:t>
            </a:r>
            <a:r>
              <a:rPr sz="1400" dirty="0"/>
              <a:t> critique et la </a:t>
            </a:r>
            <a:r>
              <a:rPr sz="1400" dirty="0" err="1"/>
              <a:t>scalabilité</a:t>
            </a:r>
            <a:endParaRPr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rPr dirty="0" err="1"/>
              <a:t>Disponibilité</a:t>
            </a:r>
            <a:r>
              <a:rPr dirty="0"/>
              <a:t> du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Repository : </a:t>
            </a:r>
            <a:r>
              <a:rPr sz="1400" dirty="0" err="1"/>
              <a:t>Projet_home_formation</a:t>
            </a: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 err="1"/>
              <a:t>Accessibilité</a:t>
            </a:r>
            <a:r>
              <a:rPr sz="1400" dirty="0"/>
              <a:t>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Code source </a:t>
            </a:r>
            <a:r>
              <a:rPr sz="1400" dirty="0" err="1"/>
              <a:t>complet</a:t>
            </a: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Historique</a:t>
            </a:r>
            <a:r>
              <a:rPr sz="1400" dirty="0"/>
              <a:t> </a:t>
            </a:r>
            <a:r>
              <a:rPr sz="1400" dirty="0" err="1"/>
              <a:t>complet</a:t>
            </a:r>
            <a:r>
              <a:rPr sz="1400" dirty="0"/>
              <a:t> des commits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README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Authentification</a:t>
            </a:r>
            <a:r>
              <a:rPr sz="1400" dirty="0"/>
              <a:t> du travail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sz="1400"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Transparence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Inspection possible par le jury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Démonstration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direct possible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sz="1400" dirty="0"/>
              <a:t>• Questions </a:t>
            </a:r>
            <a:r>
              <a:rPr sz="1400" dirty="0" err="1"/>
              <a:t>bienvenues</a:t>
            </a:r>
            <a:r>
              <a:rPr sz="1400" dirty="0"/>
              <a:t> sur </a:t>
            </a:r>
            <a:r>
              <a:rPr sz="1400" dirty="0" err="1"/>
              <a:t>l'implémentation</a:t>
            </a:r>
            <a:endParaRPr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52CC"/>
                </a:solidFill>
              </a:defRPr>
            </a:pPr>
            <a:r>
              <a:t>Résumé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1DB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Frontend : React 19, Bootstrap 5, SCSS, Axios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Backend : Node.js, Express 5, </a:t>
            </a:r>
            <a:r>
              <a:rPr dirty="0" err="1"/>
              <a:t>Sequelize</a:t>
            </a:r>
            <a:r>
              <a:rPr dirty="0"/>
              <a:t> 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Database : MySQL 8 </a:t>
            </a:r>
            <a:r>
              <a:rPr dirty="0" err="1"/>
              <a:t>relationnelle</a:t>
            </a:r>
            <a:r>
              <a:rPr dirty="0"/>
              <a:t> (3NF)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Auth : JWT 24h + </a:t>
            </a:r>
            <a:r>
              <a:rPr dirty="0" err="1"/>
              <a:t>bcryptjs</a:t>
            </a: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Architecture : RCSM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Sécurité : OWASP Top 10 </a:t>
            </a:r>
            <a:r>
              <a:rPr dirty="0" err="1"/>
              <a:t>couvert</a:t>
            </a:r>
            <a:r>
              <a:rPr dirty="0"/>
              <a:t>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Tests : 20 </a:t>
            </a:r>
            <a:r>
              <a:rPr dirty="0" err="1"/>
              <a:t>scénarios</a:t>
            </a:r>
            <a:r>
              <a:rPr dirty="0"/>
              <a:t>, 100% </a:t>
            </a:r>
            <a:r>
              <a:rPr dirty="0" err="1"/>
              <a:t>réussite</a:t>
            </a:r>
            <a:r>
              <a:rPr dirty="0"/>
              <a:t>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 err="1"/>
              <a:t>Accessibilité</a:t>
            </a:r>
            <a:r>
              <a:rPr dirty="0"/>
              <a:t> : WCAG AA ✅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rPr dirty="0" err="1"/>
              <a:t>Statut</a:t>
            </a:r>
            <a:r>
              <a:rPr dirty="0"/>
              <a:t> : </a:t>
            </a:r>
            <a:r>
              <a:rPr dirty="0" err="1"/>
              <a:t>Fonctionnel</a:t>
            </a:r>
            <a:r>
              <a:rPr dirty="0"/>
              <a:t>, </a:t>
            </a:r>
            <a:r>
              <a:rPr dirty="0" err="1"/>
              <a:t>sécurisé</a:t>
            </a:r>
            <a:r>
              <a:rPr dirty="0"/>
              <a:t>, prêt à </a:t>
            </a:r>
            <a:r>
              <a:rPr dirty="0" err="1"/>
              <a:t>l'examen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Prêt à répondre sur l'architecture, la sécurité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et les décisions technologiques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Cédric TEDIE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TP DWWM | Centre Européen de 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996</Words>
  <Application>Microsoft Office PowerPoint</Application>
  <PresentationFormat>Affichage à l'écran (4:3)</PresentationFormat>
  <Paragraphs>207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Cédric TEDIE</cp:lastModifiedBy>
  <cp:revision>3</cp:revision>
  <dcterms:created xsi:type="dcterms:W3CDTF">2013-01-27T09:14:16Z</dcterms:created>
  <dcterms:modified xsi:type="dcterms:W3CDTF">2026-05-11T13:57:04Z</dcterms:modified>
  <cp:category/>
</cp:coreProperties>
</file>